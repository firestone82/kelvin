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88825" cy="6858000"/>
  <p:notesSz cx="6858000" cy="9144000"/>
  <p:defaultTextStyle>
    <a:defPPr rtl="0">
      <a:defRPr lang="cs-cz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5C5"/>
    <a:srgbClr val="262626"/>
    <a:srgbClr val="00A499"/>
    <a:srgbClr val="05C8E4"/>
    <a:srgbClr val="009999"/>
    <a:srgbClr val="00A59A"/>
    <a:srgbClr val="080F21"/>
    <a:srgbClr val="050A16"/>
    <a:srgbClr val="060C1B"/>
    <a:srgbClr val="070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84483" autoAdjust="0"/>
  </p:normalViewPr>
  <p:slideViewPr>
    <p:cSldViewPr>
      <p:cViewPr varScale="1">
        <p:scale>
          <a:sx n="159" d="100"/>
          <a:sy n="159" d="100"/>
        </p:scale>
        <p:origin x="276" y="13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750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92DAF1D-8F38-49AC-B404-1337A10650DD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cs-CZ" smtClean="0"/>
              <a:pPr algn="r" rtl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084BE0D-C9E9-4F18-B817-2DBEF890598A}" type="datetime1">
              <a:rPr lang="cs-CZ" smtClean="0"/>
              <a:pPr/>
              <a:t>30.05.2024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cs-CZ" smtClean="0"/>
              <a:pPr algn="r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[~0:15] Úvod</a:t>
            </a:r>
          </a:p>
          <a:p>
            <a:r>
              <a:t>• Pozdravit komisi, představit se.</a:t>
            </a:r>
          </a:p>
          <a:p>
            <a:r>
              <a:t>• Téma: integrace velkých jazykových modelů (LLM) do výukového systému Kelvin.</a:t>
            </a:r>
          </a:p>
          <a:p>
            <a:r>
              <a:t>• Cíl: automatické generování code review studentských odevzdání.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Téma a motivace</a:t>
            </a:r>
          </a:p>
          <a:p>
            <a:r>
              <a:t>• Kelvin = systém pro odevzdávání a automatické testování úloh na FEI VŠB.</a:t>
            </a:r>
          </a:p>
          <a:p>
            <a:r>
              <a:t>• Vysvětlit bolest: ruční psaní komentářů ke kódu nezvládá objem odevzdání.</a:t>
            </a:r>
          </a:p>
          <a:p>
            <a:r>
              <a:t>• Má práce přidává vrstvu, kde LLM připraví NÁVRH review – člověk zůstává v rozhodovací roli.</a:t>
            </a:r>
          </a:p>
          <a:p>
            <a:r>
              <a:t>• Zdůraznit: nenahrazujeme učitele, asistujeme 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[~0:45] Cíle</a:t>
            </a:r>
          </a:p>
          <a:p>
            <a:r>
              <a:t>• Projít 5 hlavních cílů – každý jedna věta.</a:t>
            </a:r>
          </a:p>
          <a:p>
            <a:r>
              <a:t>• Klíčové slovo u každého: automatizace, nezávislost na poskytovateli, neblokující běh, verzování promptů, lidská kontrola.</a:t>
            </a:r>
          </a:p>
          <a:p>
            <a:r>
              <a:t>• Říct, že tyto cíle určují strukturu celé prezentace.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[~1:30] Architektura</a:t>
            </a:r>
          </a:p>
          <a:p>
            <a:r>
              <a:t>• Nejdůležitější návrhové rozhodnutí: review je ODDĚLENÉ od hodnocení – nikdy neblokuje známku.</a:t>
            </a:r>
          </a:p>
          <a:p>
            <a:r>
              <a:t>• Tok: po vyhodnocení se do Redis fronty (django-rq) zařadí review_job.</a:t>
            </a:r>
          </a:p>
          <a:p>
            <a:r>
              <a:t>• Job stáhne zdrojové soubory, vloží je do promptu (embedding), zavolá model a výsledek pošle zpět do Kelvinu přes REST.</a:t>
            </a:r>
          </a:p>
          <a:p>
            <a:r>
              <a:t>• Veškerá logika je v novém modulu common/ai_review.</a:t>
            </a:r>
          </a:p>
          <a:p>
            <a:r>
              <a:t>• Zmínit, že komunikace jde přes standardní OpenAI API, což otvírá dveře k libovolnému poskytovateli (další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Konfigurace</a:t>
            </a:r>
          </a:p>
          <a:p>
            <a:r>
              <a:t>• Učitel nemusí psát kód – review zapne pár řádky v config.yml úlohy.</a:t>
            </a:r>
          </a:p>
          <a:p>
            <a:r>
              <a:t>• V editoru úloh funguje našeptávání (Ctrl+Space) názvů serverů a modelů.</a:t>
            </a:r>
          </a:p>
          <a:p>
            <a:r>
              <a:t>• Servery se spravují v JSON souboru – každý záznam = jeden poskytovatel a jeho modely.</a:t>
            </a:r>
          </a:p>
          <a:p>
            <a:r>
              <a:t>• Důraz na flexibilitu: stejné rozhraní pro lokální open-weight modely i cloud (OpenAI, Gemini). Škola tak může jet lokálně kvůli ochraně dat studentů.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[~1:45] Režimy review – jádro práce</a:t>
            </a:r>
          </a:p>
          <a:p>
            <a:r>
              <a:t>• Všechny tři módy vrací stejnou strukturu (summary + seznam issues), liší se postupem, a tím cenou/latencí/kvalitou.</a:t>
            </a:r>
          </a:p>
          <a:p>
            <a:r>
              <a:t>• zero_shot: jeden průchod – levné, ale slabší modely halucinují.</a:t>
            </a:r>
          </a:p>
          <a:p>
            <a:r>
              <a:t>• chain_of_thought (výchozí): tři volání – Draft vygeneruje kandidáty, Critique je jako skeptik napadne a vyhodí false-positives, Verify nechá jen prokazatelně reálné chyby. Tohle byl klíč ke spolehlivosti u menších modelů.</a:t>
            </a:r>
          </a:p>
          <a:p>
            <a:r>
              <a:t>• thinking: necháme uvažování na samotném reasoning modelu – nejlepší kvalita jedním dotazem.</a:t>
            </a:r>
          </a:p>
          <a:p>
            <a:r>
              <a:t>• Pointa: kompromis cena vs. kvalita si volí učitel podle úlohy.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Prompty</a:t>
            </a:r>
          </a:p>
          <a:p>
            <a:r>
              <a:t>• Důležité oddělení: prompt NENÍ v config.yml, žije v databázi a odkazuje se jen jménem.</a:t>
            </a:r>
          </a:p>
          <a:p>
            <a:r>
              <a:t>• Výhoda: jeden dobře napsaný prompt používá mnoho úloh; učitel vytvoří novou verzi a všechna další review ji automaticky použijí.</a:t>
            </a:r>
          </a:p>
          <a:p>
            <a:r>
              <a:t>• Vytvořil jsem editor promptů (Vue) – verze, vlastník, výchozí prompt, měkké mazání.</a:t>
            </a:r>
          </a:p>
          <a:p>
            <a:r>
              <a:t>• Každý prompt Kelvin doplní o systémový JUSTIFICATION_PROMPT, který drží jednotný JSON výstup a definuje stupnici závažnosti – autor promptu řeší jen CO hledat.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Datový model</a:t>
            </a:r>
          </a:p>
          <a:p>
            <a:r>
              <a:t>• Dvě hlavní entity: LlmReviewPrompt (verzovaný prompt) a SuggestedComment (jednotlivý návrh).</a:t>
            </a:r>
          </a:p>
          <a:p>
            <a:r>
              <a:t>• U každého návrhu se ukládá kontext – soubor, řádek, závažnost, kterým modelem/serverem/režimem vznikl (kvůli dohledatelnosti).</a:t>
            </a:r>
          </a:p>
          <a:p>
            <a:r>
              <a:t>• Stav návrhu a hodnocení kvality/relevance tvoří zpětnovazební smyčku – data pro budoucí vyhodnocení úspěšnosti modelů.</a:t>
            </a:r>
          </a:p>
          <a:p>
            <a:r>
              <a:t>• Výsledek pro učitele = jedno shrnutí celého kódu + inline připomínky u konkrétních řádků.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Ukázka v aplikaci</a:t>
            </a:r>
          </a:p>
          <a:p>
            <a:r>
              <a:t>• TIP: před obhajobou sem vlož screenshot reálné obrazovky – komise ocení živou ukázku.</a:t>
            </a:r>
          </a:p>
          <a:p>
            <a:r>
              <a:t>• Ukázat: nahoře shrnutí, v kódu barevné inline připomínky podle závažnosti.</a:t>
            </a:r>
          </a:p>
          <a:p>
            <a:r>
              <a:t>• Demonstrovat workflow učitele: kliknutím přijme/odmítne návrh; přijatý se stává normálním komentářem, který vidí student.</a:t>
            </a:r>
          </a:p>
          <a:p>
            <a:r>
              <a:t>• Zdůraznit, že finální slovo má vždy učitel.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[~0:55] Výzvy</a:t>
            </a:r>
          </a:p>
          <a:p>
            <a:r>
              <a:t>• Největší boj: donutit model vracet validní strukturovaný JSON – řeší vynucené schéma a nízká teplota.</a:t>
            </a:r>
          </a:p>
          <a:p>
            <a:r>
              <a:t>• Modely si komolily názvy souborů (zkrácení, překlepy) – musel jsem napsat heuristiku, která název napáruje na skutečnou cestu odevzdání, jinak by připomínka ukazovala na neexistující soubor.</a:t>
            </a:r>
          </a:p>
          <a:p>
            <a:r>
              <a:t>• Vícejazyčnost: review umí česky, ale technické termíny a názvy proměnných musí zůstat v originále.</a:t>
            </a:r>
          </a:p>
          <a:p>
            <a:r>
              <a:t>• Zmínit kompromis nákladů a latence – proto tři režimy.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[~0:40] Závěr</a:t>
            </a:r>
          </a:p>
          <a:p>
            <a:r>
              <a:t>• Shrnout, že všechny vytyčené cíle byly splněny – odkázat zpět na slide Cíle.</a:t>
            </a:r>
          </a:p>
          <a:p>
            <a:r>
              <a:t>• Zdůraznit hlavní přínosy: nezávislost na poskytovateli, neblokující běh, lidská kontrola.</a:t>
            </a:r>
          </a:p>
          <a:p>
            <a:r>
              <a:t>• Nastínit budoucí práci: sbíraná hodnocení kvality/relevance umožní měřit, který model/prompt je nejlepší.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[~0:20] Závěr</a:t>
            </a:r>
          </a:p>
          <a:p>
            <a:r>
              <a:t>• Poděkovat za pozornost a otevřít prostor pro otázky.</a:t>
            </a:r>
          </a:p>
          <a:p>
            <a:r>
              <a:t>• Celkový čas cca 10 minut.</a:t>
            </a:r>
          </a:p>
          <a:p>
            <a:r>
              <a:t>• Připrav si odpovědi na pravděpodobné dotazy: ochrana dat studentů, halucinace modelů, náklady na tokeny, proč OpenAI API jako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úhlopříčky"/>
          <p:cNvGrpSpPr/>
          <p:nvPr/>
        </p:nvGrpSpPr>
        <p:grpSpPr>
          <a:xfrm>
            <a:off x="7516444" y="4145283"/>
            <a:ext cx="4686117" cy="2731407"/>
            <a:chOff x="5638800" y="3108960"/>
            <a:chExt cx="3515503" cy="2048555"/>
          </a:xfrm>
        </p:grpSpPr>
        <p:cxnSp>
          <p:nvCxnSpPr>
            <p:cNvPr id="14" name="Přímá spojnice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Přímá spojnice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Přímá spojnice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řádky dole"/>
          <p:cNvGrpSpPr/>
          <p:nvPr/>
        </p:nvGrpSpPr>
        <p:grpSpPr>
          <a:xfrm>
            <a:off x="-8916" y="6057151"/>
            <a:ext cx="5498726" cy="820207"/>
            <a:chOff x="-6689" y="4553748"/>
            <a:chExt cx="4125119" cy="615155"/>
          </a:xfrm>
        </p:grpSpPr>
        <p:sp>
          <p:nvSpPr>
            <p:cNvPr id="9" name="Volný tvar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 sz="2400" dirty="0"/>
            </a:p>
          </p:txBody>
        </p:sp>
        <p:sp>
          <p:nvSpPr>
            <p:cNvPr id="10" name="Volný tvar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 sz="2400" dirty="0"/>
            </a:p>
          </p:txBody>
        </p:sp>
        <p:sp>
          <p:nvSpPr>
            <p:cNvPr id="11" name="Volný tvar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 sz="2400" dirty="0"/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625176" y="584202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Kliknutím lze upravit styl předlohy.</a:t>
            </a:r>
          </a:p>
        </p:txBody>
      </p:sp>
      <p:sp>
        <p:nvSpPr>
          <p:cNvPr id="22" name="Zástupný symbol pro datum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0C72C7-7C23-471B-84C3-F62DB4DAEA86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23" name="Zástupný symbol pro zápatí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24" name="Zástupný symbol pro číslo snímku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97FAED7-EA56-430A-A59A-1F0DD1E104F4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úhlopříčky"/>
          <p:cNvGrpSpPr/>
          <p:nvPr/>
        </p:nvGrpSpPr>
        <p:grpSpPr>
          <a:xfrm>
            <a:off x="7516444" y="4145283"/>
            <a:ext cx="4686117" cy="2731407"/>
            <a:chOff x="5638800" y="3108960"/>
            <a:chExt cx="3515503" cy="2048555"/>
          </a:xfrm>
        </p:grpSpPr>
        <p:cxnSp>
          <p:nvCxnSpPr>
            <p:cNvPr id="12" name="Přímá spojnice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Přímá spojnice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Přímá spojnice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25177" y="2209803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625176" y="4951268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B988F1E-1E80-404D-8631-D52C3E554537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218884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500708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E3E14AA-B127-42F2-84D1-3C828C6D36A1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1218884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6500708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9468266-5084-46B1-AE7D-3FD2BD2B9911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BB8BAEF-331C-4937-B468-67D4BE96C70C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CE0C758-0F74-4BF6-8998-29FE5E523F6A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1A2F16C-6E19-48D9-BEAA-BA11174FDB33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3" name="Zástupný symbol obrázku 2" descr="Prázdný zástupný symbol pro přidání obrázku Klikněte na zástupný symbol a vyberte obrázek, který chcete přidat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2A1F31-67F5-42F9-88C7-BE179E3C0FA6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C5161E4-BEFE-4EC0-9044-752344055020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5389C03-22AF-4514-8013-5326635F7824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řádky vlevo"/>
          <p:cNvGrpSpPr/>
          <p:nvPr/>
        </p:nvGrpSpPr>
        <p:grpSpPr>
          <a:xfrm>
            <a:off x="-15868" y="-3174"/>
            <a:ext cx="819993" cy="5229225"/>
            <a:chOff x="-11906" y="-2381"/>
            <a:chExt cx="615155" cy="3921919"/>
          </a:xfrm>
        </p:grpSpPr>
        <p:sp>
          <p:nvSpPr>
            <p:cNvPr id="10" name="Volný tvar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sz="2400" dirty="0"/>
            </a:p>
          </p:txBody>
        </p:sp>
        <p:sp>
          <p:nvSpPr>
            <p:cNvPr id="11" name="Volný tvar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sz="2400" dirty="0"/>
            </a:p>
          </p:txBody>
        </p:sp>
        <p:sp>
          <p:nvSpPr>
            <p:cNvPr id="14" name="Volný tvar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sz="2400" dirty="0"/>
            </a:p>
          </p:txBody>
        </p:sp>
      </p:grp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218884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218882" y="6356354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7077-770E-4F27-82B0-D7D15FD70F0E}" type="datetime1">
              <a:rPr lang="cs-CZ" smtClean="0"/>
              <a:t>30.05.2024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453501" y="6356354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63650" y="6356354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Integrace velkých jazykových modelů do systému Kelvin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Pavel Mikula, MIK0486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Téma práce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Kelvin – školní systém VŠB pro odevzdávání a hodnocení úloh</a:t>
            </a:r>
          </a:p>
          <a:p>
            <a:pPr/>
            <a:r>
              <a:rPr b="1"/>
              <a:t>Problém: </a:t>
            </a:r>
            <a:r>
              <a:t>Manuální code review je časově náročné</a:t>
            </a:r>
          </a:p>
          <a:p>
            <a:pPr lvl="1"/>
            <a:r>
              <a:t>Stovky odevzdání, učitel komentuje kód ručně</a:t>
            </a:r>
          </a:p>
          <a:p>
            <a:pPr lvl="1"/>
            <a:r>
              <a:t>Kvalita a rozsah zpětné vazby kolísá</a:t>
            </a:r>
          </a:p>
          <a:p>
            <a:pPr/>
            <a:r>
              <a:rPr b="1"/>
              <a:t>Myšlenka: </a:t>
            </a:r>
            <a:r>
              <a:t>LLM vygeneruje návrh code review automaticky</a:t>
            </a:r>
          </a:p>
          <a:p>
            <a:pPr lvl="1"/>
            <a:r>
              <a:t>Učitel review pouze zkontroluje a schválí</a:t>
            </a:r>
          </a:p>
          <a:p>
            <a:pPr lvl="1"/>
            <a:r>
              <a:t>Student dostane rychlejší a podrobnější zpětnou vazbu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Cíle práce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Automatický code review odevzdání pomocí LLM</a:t>
            </a:r>
          </a:p>
          <a:p>
            <a:pPr/>
            <a:r>
              <a:t>Nezávislost na poskytovateli modelu</a:t>
            </a:r>
          </a:p>
          <a:p>
            <a:pPr lvl="1"/>
            <a:r>
              <a:t>Podpora libovolného OpenAI-kompatibilního serveru</a:t>
            </a:r>
          </a:p>
          <a:p>
            <a:pPr/>
            <a:r>
              <a:t>Neblokovat hodnocení – běh asynchronně mimo pipeline</a:t>
            </a:r>
          </a:p>
          <a:p>
            <a:pPr/>
            <a:r>
              <a:t>Správa promptů s verzováním přímo v Kelvinu</a:t>
            </a:r>
          </a:p>
          <a:p>
            <a:pPr/>
            <a:r>
              <a:t>Zpětná vazba učitele – přijetí, odmítnutí a hodnocení návrhů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Architektura řešení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Review běží </a:t>
            </a:r>
            <a:r>
              <a:t>až po vyhodnocení odevzdání testovací pipeline</a:t>
            </a:r>
          </a:p>
          <a:p>
            <a:pPr lvl="1"/>
            <a:r>
              <a:t>Pokud je LLM server pomalý/nedostupný, hodnocení proběhne normálně</a:t>
            </a:r>
          </a:p>
          <a:p>
            <a:pPr/>
            <a:r>
              <a:rPr b="1"/>
              <a:t>Asynchronní úloha přes </a:t>
            </a:r>
            <a:r>
              <a:t>Redis frontu (django-rq)</a:t>
            </a:r>
          </a:p>
          <a:p>
            <a:pPr lvl="1"/>
            <a:r>
              <a:t>review_job: stáhne zdrojáky → embedding → volá LLM → nahraje výsledek</a:t>
            </a:r>
          </a:p>
          <a:p>
            <a:pPr/>
            <a:r>
              <a:rPr b="1"/>
              <a:t>Nový modul </a:t>
            </a:r>
            <a:r>
              <a:t>common/ai_review (job, processor, llm_reviewer)</a:t>
            </a:r>
          </a:p>
          <a:p>
            <a:pPr/>
            <a:r>
              <a:t>Komunikace přes OpenAI Chat Completions API</a:t>
            </a:r>
          </a:p>
          <a:p>
            <a:pPr lvl="1"/>
            <a:r>
              <a:t>Embedují se jen podporované jazyky: C, C++, Rust, Python,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Konfigurace a poskytovatelé modelů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Učitel zapíná review v </a:t>
            </a:r>
            <a:r>
              <a:t>config.yml úlohy</a:t>
            </a:r>
          </a:p>
          <a:p>
            <a:pPr lvl="1"/>
            <a:r>
              <a:t>enabled, review_mode, language, server, model, prompt</a:t>
            </a:r>
          </a:p>
          <a:p>
            <a:pPr/>
            <a:r>
              <a:rPr b="1"/>
              <a:t>Servery definované v </a:t>
            </a:r>
            <a:r>
              <a:t>openai_servers.json</a:t>
            </a:r>
          </a:p>
          <a:p>
            <a:pPr lvl="1"/>
            <a:r>
              <a:t>id, label, base_url, api_key, seznam modelů</a:t>
            </a:r>
          </a:p>
          <a:p>
            <a:pPr/>
            <a:r>
              <a:t>Funguje s jakýmkoli OpenAI-kompatibilním backendem:</a:t>
            </a:r>
          </a:p>
          <a:p>
            <a:pPr lvl="1"/>
            <a:r>
              <a:t>lokálně: Ollama, vLLM, llama.cpp (qwen3-coder, deepseek…)</a:t>
            </a:r>
          </a:p>
          <a:p>
            <a:pPr lvl="1"/>
            <a:r>
              <a:t>cloud: OpenAI, Azure, Google Gemini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Režimy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zero_shot </a:t>
            </a:r>
            <a:r>
              <a:t>– jeden dotaz, nejrychlejší a nejlevnější</a:t>
            </a:r>
          </a:p>
          <a:p>
            <a:pPr lvl="1"/>
            <a:r>
              <a:t>vhodné pro malé úlohy a silné modely</a:t>
            </a:r>
          </a:p>
          <a:p>
            <a:pPr/>
            <a:r>
              <a:rPr b="1"/>
              <a:t>chain_of_thought </a:t>
            </a:r>
            <a:r>
              <a:t>– výchozí, tři kroky (draft → critique → verify)</a:t>
            </a:r>
          </a:p>
          <a:p>
            <a:pPr lvl="1"/>
            <a:r>
              <a:t>model navrhne, skeptický recenzent vyřadí falešné nálezy, verifikace finalizuje</a:t>
            </a:r>
          </a:p>
          <a:p>
            <a:pPr lvl="1"/>
            <a:r>
              <a:t>výrazně méně šumu i u středně velkých modelů</a:t>
            </a:r>
          </a:p>
          <a:p>
            <a:pPr/>
            <a:r>
              <a:rPr b="1"/>
              <a:t>thinking </a:t>
            </a:r>
            <a:r>
              <a:t>– jeden dotaz s nativním uvažováním modelu</a:t>
            </a:r>
          </a:p>
          <a:p>
            <a:pPr lvl="1"/>
            <a:r>
              <a:t>nejvyšší kvalita, vyžaduje reasoning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Správa promptů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Prompty uložené v databázi, ne v konfiguraci úlohy</a:t>
            </a:r>
          </a:p>
          <a:p>
            <a:pPr lvl="1"/>
            <a:r>
              <a:t>jeden odladěný prompt sdílí stovky úloh</a:t>
            </a:r>
          </a:p>
          <a:p>
            <a:pPr/>
            <a:r>
              <a:rPr b="1"/>
              <a:t>Verzování </a:t>
            </a:r>
            <a:r>
              <a:t>– nová verze se projeví bez zásahu do úloh</a:t>
            </a:r>
          </a:p>
          <a:p>
            <a:pPr/>
            <a:r>
              <a:t>Editor promptů ve frontendu (Vue)</a:t>
            </a:r>
          </a:p>
          <a:p>
            <a:pPr lvl="1"/>
            <a:r>
              <a:t>vlastnictví učitelem, výchozí prompt, soft-delete, historie verzí</a:t>
            </a:r>
          </a:p>
          <a:p>
            <a:pPr/>
            <a:r>
              <a:rPr b="1"/>
              <a:t>Systémový </a:t>
            </a:r>
            <a:r>
              <a:t>JUSTIFICATION_PROMPT vynucuje JSON schéma a rubriku závažnosti</a:t>
            </a:r>
          </a:p>
          <a:p>
            <a:pPr lvl="1"/>
            <a:r>
              <a:t>critical / high / medium / 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Datový model a výstup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LlmReviewPrompt </a:t>
            </a:r>
            <a:r>
              <a:t>– prompt, verze, autor, výchozí příznak</a:t>
            </a:r>
          </a:p>
          <a:p>
            <a:pPr/>
            <a:r>
              <a:rPr b="1"/>
              <a:t>SuggestedComment </a:t>
            </a:r>
            <a:r>
              <a:t>– jeden návrh komentáře k odevzdání</a:t>
            </a:r>
          </a:p>
          <a:p>
            <a:pPr lvl="1"/>
            <a:r>
              <a:t>soubor, řádek, text, závažnost, model, server, režim</a:t>
            </a:r>
          </a:p>
          <a:p>
            <a:pPr lvl="1"/>
            <a:r>
              <a:t>stav: pending / accepted / rejected</a:t>
            </a:r>
          </a:p>
          <a:p>
            <a:pPr lvl="1"/>
            <a:r>
              <a:t>hodnocení kvality a relevance návrhu</a:t>
            </a:r>
          </a:p>
          <a:p>
            <a:pPr/>
            <a:r>
              <a:rPr b="1"/>
              <a:t>Výstup = celkové </a:t>
            </a:r>
            <a:r>
              <a:t>shrnutí + seznam inline připomínek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Výsledek v aplikaci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Shrnutí review nad zdrojovým kódem odevzdání</a:t>
            </a:r>
          </a:p>
          <a:p>
            <a:pPr/>
            <a:r>
              <a:t>Inline připomínky přímo u dotčených řádků</a:t>
            </a:r>
          </a:p>
          <a:p>
            <a:pPr lvl="1"/>
            <a:r>
              <a:t>barevně dle závažnosti</a:t>
            </a:r>
          </a:p>
          <a:p>
            <a:pPr/>
            <a:r>
              <a:rPr b="1"/>
              <a:t>Učitel návrh </a:t>
            </a:r>
            <a:r>
              <a:t>přijme, odmítne nebo ohodnotí</a:t>
            </a:r>
          </a:p>
          <a:p>
            <a:pPr lvl="1"/>
            <a:r>
              <a:t>přijatý návrh se převede na běžný komentář pro studenta</a:t>
            </a:r>
          </a:p>
          <a:p>
            <a:pPr/>
            <a:r>
              <a:t>[Sem vlož screenshot z aplikace]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Technické výzvy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Spolehlivý strukturovaný výstup</a:t>
            </a:r>
          </a:p>
          <a:p>
            <a:pPr lvl="1"/>
            <a:r>
              <a:t>vynucené JSON schéma + nízká teplota generování</a:t>
            </a:r>
          </a:p>
          <a:p>
            <a:pPr/>
            <a:r>
              <a:t>Modely komolí názvy souborů</a:t>
            </a:r>
          </a:p>
          <a:p>
            <a:pPr lvl="1"/>
            <a:r>
              <a:t>heuristická normalizace na reálné cesty (suffix/basename)</a:t>
            </a:r>
          </a:p>
          <a:p>
            <a:pPr/>
            <a:r>
              <a:t>Vícejazyčný výstup review (např. čeština)</a:t>
            </a:r>
          </a:p>
          <a:p>
            <a:pPr lvl="1"/>
            <a:r>
              <a:t>kód a názvy proměnných zůstávají beze změny</a:t>
            </a:r>
          </a:p>
          <a:p>
            <a:pPr/>
            <a:r>
              <a:t>Kompromis cena × latence × kvalita mezi režimy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Závěr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Funkční integrace LLM code review do Kelvinu</a:t>
            </a:r>
          </a:p>
          <a:p>
            <a:pPr/>
            <a:r>
              <a:t>Nezávislost na poskytovateli – lokální i cloud modely</a:t>
            </a:r>
          </a:p>
          <a:p>
            <a:pPr/>
            <a:r>
              <a:t>Tři režimy review s různým poměrem cena/kvalita</a:t>
            </a:r>
          </a:p>
          <a:p>
            <a:pPr/>
            <a:r>
              <a:t>Verzovaná správa promptů a editor pro učitele</a:t>
            </a:r>
          </a:p>
          <a:p>
            <a:pPr/>
            <a:r>
              <a:t>Učitel zůstává v rozhodovací roli</a:t>
            </a:r>
          </a:p>
          <a:p>
            <a:pPr/>
            <a:r>
              <a:rPr b="1"/>
              <a:t>Další směr: </a:t>
            </a:r>
            <a:r>
              <a:t>automatické vyhodnocení úspěšnosti modelů z hodnocení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Děkuji za pozornost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Prostor pro dotazy komise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ie (16:9)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28_TF02787990_TF02787990.potx" id="{41430103-F1DF-4760-9877-C776298C88DB}" vid="{586A876F-1D1B-4FC4-9F0D-A7C5E174B1DA}"/>
    </a:ext>
  </a:extLst>
</a:theme>
</file>

<file path=ppt/theme/theme2.xml><?xml version="1.0" encoding="utf-8"?>
<a:theme xmlns:a="http://schemas.openxmlformats.org/drawingml/2006/main" name="Motiv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Prezentace s trojitými čarami připomínajícími elektrický obvod (širokoúhlý formát)</Template>
  <TotalTime>1113</TotalTime>
  <Words>740</Words>
  <Application>Microsoft Office PowerPoint</Application>
  <PresentationFormat>Custom</PresentationFormat>
  <Paragraphs>206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Söhne</vt:lpstr>
      <vt:lpstr>Technologie (16:9)</vt:lpstr>
      <vt:lpstr>PowerPoint Presentation</vt:lpstr>
      <vt:lpstr>Tvorba administrativního rozhraní výpravné evoluční hry</vt:lpstr>
      <vt:lpstr>Téma práce</vt:lpstr>
      <vt:lpstr>Cíle práce</vt:lpstr>
      <vt:lpstr>Týmová spolupráce</vt:lpstr>
      <vt:lpstr>Týmová spolupráce</vt:lpstr>
      <vt:lpstr>Týmová spolupráce</vt:lpstr>
      <vt:lpstr>Technologie</vt:lpstr>
      <vt:lpstr>Implementace</vt:lpstr>
      <vt:lpstr>Schéma databáze</vt:lpstr>
      <vt:lpstr>Schéma databáze</vt:lpstr>
      <vt:lpstr>Schéma databáze</vt:lpstr>
      <vt:lpstr>Obrázky z aplikace</vt:lpstr>
      <vt:lpstr>Obrázky z aplikace</vt:lpstr>
      <vt:lpstr>Obrázky z aplikace </vt:lpstr>
      <vt:lpstr>Obrázky z aplikace</vt:lpstr>
      <vt:lpstr>Obrázky z aplikace</vt:lpstr>
      <vt:lpstr>Závěr</vt:lpstr>
      <vt:lpstr>Děkuji za pozornost</vt:lpstr>
      <vt:lpstr>Otázky k obhajobě</vt:lpstr>
      <vt:lpstr>Otázky k obhajobě</vt:lpstr>
      <vt:lpstr>Otázky k obhajobě</vt:lpstr>
      <vt:lpstr>Otázky k obhajobě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and its Impact on Society</dc:title>
  <dc:creator>Mikula Pavel</dc:creator>
  <cp:lastModifiedBy>Mikula Pavel</cp:lastModifiedBy>
  <cp:revision>62</cp:revision>
  <dcterms:created xsi:type="dcterms:W3CDTF">2023-05-23T15:58:02Z</dcterms:created>
  <dcterms:modified xsi:type="dcterms:W3CDTF">2024-05-30T17:51:28Z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