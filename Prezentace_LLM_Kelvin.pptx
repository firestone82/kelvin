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0:30. Dobrý den, jmenuji se Pavel Mikula. Tématem mé diplomové práce je integrace velkých jazykových modelů do výukového systému Kelvin – konkrétně AI-asistovaná revize studentských řešení. Provedu vás motivací, návrhem, implementací a výsledky.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1:00. Kelvin je odevzdávací systém naší fakulty. Studenti sem nahrávají řešení, ta se automaticky testují a vyučující k nim píše ruční komentáře. Právě ruční revize je úzké hrdlo – při stovkách odevzdání se opakují stejné chyby. Mým cílem nebylo vyučujícího nahradit, ale výrazně mu ulehčit.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1:00. Stanovil jsem pět cílů: navrhnout integraci LLM do stávajícího workflow, automaticky generovat návrhy komentářů, ponechat vyučujícího v roli rozhodovatele, podporovat i lokální modely kvůli ochraně dat studentů, a umožnit verzování promptů kvůli měření kvality. Tyto cíle prolínají celou prací.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1:30. Toto je jádro návrhu. Když student odevzdá, do fronty django-rq se zařadí úloha – běží asynchronně, takže neblokuje odevzdání ani automatické testy. Job stáhne soubory, zavolá LLM přes OpenAI-kompatibilní API, dostane shrnutí a návrhy připomínek. Ty se uloží jako objekty SuggestedComment ve stavu pending. Vyučující je pak v rozhraní zpracuje. Zdůrazním asynchronnost a stav pending – AI nikdy nepíše přímo studentovi.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1:15. Detail implementace volání modelu. Stažené soubory očísluji po řádcích, aby model mohl přesně odkazovat. Sestavím zprávu: systémový prompt z databáze, zdrojové soubory, a pokud výstup nemá být anglicky, instrukci k překladu. Vynucuji JSON výstup a nízkou teplotu 0.2 kvůli stabilitě. Model vrátí shrnutí a připomínky se závažností od LOW po CRITICAL, namapované na konkrétní řádky.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1:00. Důležité návrhové rozhodnutí: použil jsem OpenAI-kompatibilní rozhraní, takže stačí změnit base_url a stejný kód funguje s OpenAI i s lokálním modelem. U nás běží lokální Qwen přes Ollama přímo na fakultě – kód studentů tak nemusí odejít ven, což řeší soukromí. Funkce se zapíná per úlohu v config.yml, vidíte vpravo.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1:15. Z pohledu vyučujícího: návrhy se zobrazí přímo u příslušných řádků kódu, vedle běžných komentářů. Vyučující může návrh přijmout, upravit a přijmout, nebo odmítnout – přijetí vytvoří skutečný komentář a notifikaci pro studenta. Ovládat je smí jen vyučující dané třídy. Navíc lze každý návrh ohodnotit 0 až 10, což mi dává data o kvalitě. Prompty jsou verzované v databázi a vždy se bere nejnovější verze.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1:00. Co práce přinesla: funkční end-to-end integraci nasaditelnou v reálném Kelvinu. Architekturu s člověkem v rozhodovací smyčce – AI jen navrhuje. Možnost provozu plně lokálně bez odesílání dat ven. A měřitelnost kvality díky hodnocení a verzování promptů. Všech pět cílů ze zadání bylo naplněno.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0:40. Kam dál: podpora dalších jazyků, kvantitativní studie kvality nad nasbíranými hodnoceními, automatická volba promptu podle typu úlohy a propojení revize s výsledky automatických testů. To už je ale nad rámec této práce.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 0:30. Závěrem: ukázal jsem, že LLM lze do revize kódu v Kelvinu integrovat smysluplně – asynchronně, nezávisle na poskytovateli modelu a s vyučujícím v rozhodovací roli. Děkuji za pozornost a jsem připraven na vaše otázky.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CC4EC"/>
                </a:solidFill>
                <a:latin typeface="Calibri"/>
              </a:rPr>
              <a:t>DIPLOMOVÁ PRÁCE  ·  OBHAJOBA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Integrace velkých jazykových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modelů do systému Kelvin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C8D8EC"/>
                </a:solidFill>
                <a:latin typeface="Calibri"/>
              </a:rPr>
              <a:t>AI-asistovaná revize studentských řešení kódu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Bc. Pavel Mikula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CC4EC"/>
                </a:solidFill>
                <a:latin typeface="Calibri"/>
              </a:rPr>
              <a:t>VŠB – Technická univerzita Ostrava, FEI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Kontext: systém Kelvin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CC4EC"/>
                </a:solidFill>
                <a:latin typeface="Calibri"/>
              </a:rPr>
              <a:t>ÚVOD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Výukový a odevzdávací systém FEI VŠB-TUO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nasazen na kelvin.cs.vsb.cz, používán napříč kurzy programování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Studenti odevzdávají řešení úloh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automatické vyhodnocení testy + ruční revize kódu vyučujícím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Ruční revize je časově náročná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stovky odevzdání, opakující se chyby, omezená kapacita vyučujících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737360"/>
            <a:ext cx="3657600" cy="42062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42A4F"/>
                </a:solidFill>
                <a:latin typeface="Calibri"/>
              </a:rPr>
              <a:t>Problém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5A6672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22B"/>
                </a:solidFill>
                <a:latin typeface="Calibri"/>
              </a:rPr>
              <a:t>Kvalitní zpětná vazba ke kódu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22B"/>
                </a:solidFill>
                <a:latin typeface="Calibri"/>
              </a:rPr>
              <a:t>nestíhá růst počtu studentů.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5A6672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A06B"/>
                </a:solidFill>
                <a:latin typeface="Calibri"/>
              </a:rPr>
              <a:t>Cíl práce: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22B"/>
                </a:solidFill>
                <a:latin typeface="Calibri"/>
              </a:rPr>
              <a:t>pomoci vyučujícímu, ne ho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22B"/>
                </a:solidFill>
                <a:latin typeface="Calibri"/>
              </a:rPr>
              <a:t>nahradit.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Cíle práce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CC4EC"/>
                </a:solidFill>
                <a:latin typeface="Calibri"/>
              </a:rPr>
              <a:t>ZADÁNÍ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Navrhnout integraci LLM do revizního workflow Kelvinu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Automaticky generovat návrhy komentářů ke kódu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5A6672"/>
                </a:solidFill>
                <a:latin typeface="Calibri"/>
              </a:rPr>
              <a:t>     shrnutí řešení + konkrétní připomínky na úrovni řádků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Vyučující zůstává v rozhodovací roli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5A6672"/>
                </a:solidFill>
                <a:latin typeface="Calibri"/>
              </a:rPr>
              <a:t>     návrh přijmout, upravit, odmítnout nebo ohodnotit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Podpora lokálních i cloudových modelů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5A6672"/>
                </a:solidFill>
                <a:latin typeface="Calibri"/>
              </a:rPr>
              <a:t>     kód studentů nemusí opustit infrastrukturu fakulty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Verzování a hodnocení promptů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5A6672"/>
                </a:solidFill>
                <a:latin typeface="Calibri"/>
              </a:rPr>
              <a:t>     možnost měřit a iterovat kvalitu výstupů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Architektura řešení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CC4EC"/>
                </a:solidFill>
                <a:latin typeface="Calibri"/>
              </a:rPr>
              <a:t>NÁVRH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286000"/>
            <a:ext cx="1965960" cy="1371600"/>
          </a:xfrm>
          <a:prstGeom prst="rect">
            <a:avLst/>
          </a:prstGeom>
          <a:solidFill>
            <a:srgbClr val="1E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395728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1. Odevzdání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6EEF6"/>
                </a:solidFill>
                <a:latin typeface="Calibri"/>
              </a:rPr>
              <a:t>Student nahraje
řešení úlohy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43987" y="2862072"/>
            <a:ext cx="201168" cy="219456"/>
          </a:xfrm>
          <a:prstGeom prst="rightArrow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72587" y="2286000"/>
            <a:ext cx="1965960" cy="1371600"/>
          </a:xfrm>
          <a:prstGeom prst="rect">
            <a:avLst/>
          </a:prstGeom>
          <a:solidFill>
            <a:srgbClr val="1E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4027" y="2395728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2. Async fronta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6EEF6"/>
                </a:solidFill>
                <a:latin typeface="Calibri"/>
              </a:rPr>
              <a:t>django-rq job
(neblokuje pipeline)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84267" y="2862072"/>
            <a:ext cx="201168" cy="219456"/>
          </a:xfrm>
          <a:prstGeom prst="rightArrow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12867" y="2286000"/>
            <a:ext cx="1965960" cy="1371600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4307" y="2395728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3. LLM revize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6EEF6"/>
                </a:solidFill>
                <a:latin typeface="Calibri"/>
              </a:rPr>
              <a:t>OpenAI-kompat. API
shrnutí + návrhy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24547" y="2862072"/>
            <a:ext cx="201168" cy="219456"/>
          </a:xfrm>
          <a:prstGeom prst="rightArrow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53147" y="2286000"/>
            <a:ext cx="1965960" cy="1371600"/>
          </a:xfrm>
          <a:prstGeom prst="rect">
            <a:avLst/>
          </a:prstGeom>
          <a:solidFill>
            <a:srgbClr val="1E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4587" y="2395728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4. Uložení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6EEF6"/>
                </a:solidFill>
                <a:latin typeface="Calibri"/>
              </a:rPr>
              <a:t>SuggestedComment
stav: pending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64827" y="2862072"/>
            <a:ext cx="201168" cy="219456"/>
          </a:xfrm>
          <a:prstGeom prst="rightArrow">
            <a:avLst/>
          </a:prstGeom>
          <a:solidFill>
            <a:srgbClr val="5A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93427" y="2286000"/>
            <a:ext cx="1965960" cy="137160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4867" y="2395728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5. Vyučující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6EEF6"/>
                </a:solidFill>
                <a:latin typeface="Calibri"/>
              </a:rPr>
              <a:t>přijme / upraví /
odmítne / ohodnotí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1B222B"/>
                </a:solidFill>
                <a:latin typeface="Calibri"/>
              </a:rPr>
              <a:t>Klíčové: revize běží asynchronně na pozadí </a:t>
            </a:r>
            <a:r>
              <a:rPr sz="1700" b="1">
                <a:solidFill>
                  <a:srgbClr val="2EA06B"/>
                </a:solidFill>
                <a:latin typeface="Calibri"/>
              </a:rPr>
              <a:t>→ neblokuje odevzdání ani testování.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1B222B"/>
                </a:solidFill>
                <a:latin typeface="Calibri"/>
              </a:rPr>
              <a:t>Výsledky se ukládají jako návrhy ve stavu </a:t>
            </a:r>
            <a:r>
              <a:rPr sz="1700" b="1">
                <a:solidFill>
                  <a:srgbClr val="142A4F"/>
                </a:solidFill>
                <a:latin typeface="Calibri"/>
              </a:rPr>
              <a:t>pending</a:t>
            </a:r>
            <a:r>
              <a:rPr sz="1700" b="0">
                <a:solidFill>
                  <a:srgbClr val="1B222B"/>
                </a:solidFill>
                <a:latin typeface="Calibri"/>
              </a:rPr>
              <a:t> a čekají na vyučujícího.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Zpracování v jazykovém modelu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CC4EC"/>
                </a:solidFill>
                <a:latin typeface="Calibri"/>
              </a:rPr>
              <a:t>IMPLEMENTACE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9494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EA06B"/>
                </a:solidFill>
                <a:latin typeface="Calibri"/>
              </a:rPr>
              <a:t>●  </a:t>
            </a:r>
            <a:r>
              <a:rPr sz="1700" b="1">
                <a:solidFill>
                  <a:srgbClr val="1B222B"/>
                </a:solidFill>
                <a:latin typeface="Calibri"/>
              </a:rPr>
              <a:t>Embedding zdrojových souborů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5A6672"/>
                </a:solidFill>
                <a:latin typeface="Calibri"/>
              </a:rPr>
              <a:t>     podporované jazyky C/C++, Rust, Python, Java; řádky se číslují kvůli přesné referenci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EA06B"/>
                </a:solidFill>
                <a:latin typeface="Calibri"/>
              </a:rPr>
              <a:t>●  </a:t>
            </a:r>
            <a:r>
              <a:rPr sz="1700" b="1">
                <a:solidFill>
                  <a:srgbClr val="1B222B"/>
                </a:solidFill>
                <a:latin typeface="Calibri"/>
              </a:rPr>
              <a:t>Sestavení zprávy pro 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5A6672"/>
                </a:solidFill>
                <a:latin typeface="Calibri"/>
              </a:rPr>
              <a:t>     systémový prompt (z DB) + očíslované soubory + volitelná instrukce k překladu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EA06B"/>
                </a:solidFill>
                <a:latin typeface="Calibri"/>
              </a:rPr>
              <a:t>●  </a:t>
            </a:r>
            <a:r>
              <a:rPr sz="1700" b="1">
                <a:solidFill>
                  <a:srgbClr val="1B222B"/>
                </a:solidFill>
                <a:latin typeface="Calibri"/>
              </a:rPr>
              <a:t>Strukturovaný výstup (JSON)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5A6672"/>
                </a:solidFill>
                <a:latin typeface="Calibri"/>
              </a:rPr>
              <a:t>     response_format=json_object, temperature 0.2 → stabilní, parsovatelný výstup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EA06B"/>
                </a:solidFill>
                <a:latin typeface="Calibri"/>
              </a:rPr>
              <a:t>●  </a:t>
            </a:r>
            <a:r>
              <a:rPr sz="1700" b="1">
                <a:solidFill>
                  <a:srgbClr val="1B222B"/>
                </a:solidFill>
                <a:latin typeface="Calibri"/>
              </a:rPr>
              <a:t>Výsledek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5A6672"/>
                </a:solidFill>
                <a:latin typeface="Calibri"/>
              </a:rPr>
              <a:t>     summary + seznam připomínek: soubor, řádek, závažnost, vysvětlení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737360"/>
            <a:ext cx="3749039" cy="4297680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Závažnost připomínek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423160"/>
            <a:ext cx="1554480" cy="38404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42316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898648"/>
            <a:ext cx="1554480" cy="384048"/>
          </a:xfrm>
          <a:prstGeom prst="rect">
            <a:avLst/>
          </a:prstGeom>
          <a:solidFill>
            <a:srgbClr val="F2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89864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374136"/>
            <a:ext cx="1554480" cy="384048"/>
          </a:xfrm>
          <a:prstGeom prst="rect">
            <a:avLst/>
          </a:prstGeom>
          <a:solidFill>
            <a:srgbClr val="E8C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374136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9624"/>
            <a:ext cx="1554480" cy="384048"/>
          </a:xfrm>
          <a:prstGeom prst="rect">
            <a:avLst/>
          </a:prstGeom>
          <a:solidFill>
            <a:srgbClr val="4DB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849624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57200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8D8EC"/>
                </a:solidFill>
                <a:latin typeface="Calibri"/>
              </a:rPr>
              <a:t>Výstup mapován na řádky kódu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8D8EC"/>
                </a:solidFill>
                <a:latin typeface="Calibri"/>
              </a:rPr>
              <a:t>a zobrazen přímo v revizním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8D8EC"/>
                </a:solidFill>
                <a:latin typeface="Calibri"/>
              </a:rPr>
              <a:t>rozhraní Kelvinu.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Modely a ochrana 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CC4EC"/>
                </a:solidFill>
                <a:latin typeface="Calibri"/>
              </a:rPr>
              <a:t>NÁVRHOVÉ ROZHODNUTÍ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9494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OpenAI-kompatibilní rozhraní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konfigurovatelná base_url → jeden kód, libovolný poskytovatel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Lokální modely přes Ollama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qwen3 / qwen3-coder běží na fakultní infrastruktuře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Kód studentů nemusí opustit fakultu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klíčové pro soukromí a licenční podmínky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Více serverů a modelů z konfigurace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vyučující si vybere server i model pro danou úlohu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783080"/>
            <a:ext cx="3749039" cy="4114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05740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42A4F"/>
                </a:solidFill>
                <a:latin typeface="Calibri"/>
              </a:rPr>
              <a:t>Konfigurace úlohy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A6672"/>
                </a:solidFill>
                <a:latin typeface="Calibri"/>
              </a:rPr>
              <a:t>(config.yml)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5A667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222B"/>
                </a:solidFill>
                <a:latin typeface="Calibri"/>
              </a:rPr>
              <a:t>async: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22B"/>
                </a:solidFill>
                <a:latin typeface="Calibri"/>
              </a:rPr>
              <a:t>  llm: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A06B"/>
                </a:solidFill>
                <a:latin typeface="Calibri"/>
              </a:rPr>
              <a:t>    enabled: true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22B"/>
                </a:solidFill>
                <a:latin typeface="Calibri"/>
              </a:rPr>
              <a:t>    language: 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22B"/>
                </a:solidFill>
                <a:latin typeface="Calibri"/>
              </a:rPr>
              <a:t>    server_id: local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22B"/>
                </a:solidFill>
                <a:latin typeface="Calibri"/>
              </a:rPr>
              <a:t>    model: qwen3-coder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22B"/>
                </a:solidFill>
                <a:latin typeface="Calibri"/>
              </a:rPr>
              <a:t>    prompt_name: default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Vyučující a správa promptů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CC4EC"/>
                </a:solidFill>
                <a:latin typeface="Calibri"/>
              </a:rPr>
              <a:t>IMPLEMENTACE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Návrhy zobrazené inline u řádků kódu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vedle stávajících komentářů, beze změny zvyklostí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Akce: přijmout / upravit a přijmout / odmítnout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přijetí vytvoří reálný komentář a notifikaci studentovi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Pouze vyučující dané třídy návrhy ovládá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kontrola oprávnění na úrovni API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Hodnocení návrhů (0–10)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sběr dat o kvalitě → podklad pro vyhodnocení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●  </a:t>
            </a:r>
            <a:r>
              <a:rPr sz="1800" b="1">
                <a:solidFill>
                  <a:srgbClr val="1B222B"/>
                </a:solidFill>
                <a:latin typeface="Calibri"/>
              </a:rPr>
              <a:t>Verzování promptů v databázi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     name + version, používá se nejnovější verze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Výsledky a přínos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CC4EC"/>
                </a:solidFill>
                <a:latin typeface="Calibri"/>
              </a:rPr>
              <a:t>ZHODNOCENÍ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94960" cy="1828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46304" cy="1828800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20"/>
            <a:ext cx="4754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42A4F"/>
                </a:solidFill>
                <a:latin typeface="Calibri"/>
              </a:rPr>
              <a:t>Funkční integrace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5A6672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222B"/>
                </a:solidFill>
                <a:latin typeface="Calibri"/>
              </a:rPr>
              <a:t>End-to-end nasaditelná funkce v reálném Kelvinu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600200"/>
            <a:ext cx="5394960" cy="1828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146304" cy="1828800"/>
          </a:xfrm>
          <a:prstGeom prst="rect">
            <a:avLst/>
          </a:prstGeom>
          <a:solidFill>
            <a:srgbClr val="1E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20"/>
            <a:ext cx="4754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42A4F"/>
                </a:solidFill>
                <a:latin typeface="Calibri"/>
              </a:rPr>
              <a:t>Human-in-the-loop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5A6672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222B"/>
                </a:solidFill>
                <a:latin typeface="Calibri"/>
              </a:rPr>
              <a:t>AI navrhuje, vyučující rozhoduje – žádný automat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49040"/>
            <a:ext cx="5394960" cy="1828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146304" cy="182880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23360"/>
            <a:ext cx="4754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42A4F"/>
                </a:solidFill>
                <a:latin typeface="Calibri"/>
              </a:rPr>
              <a:t>Provozováno lokálně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5A6672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222B"/>
                </a:solidFill>
                <a:latin typeface="Calibri"/>
              </a:rPr>
              <a:t>Bez odesílání kódu studentů třetí straně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749040"/>
            <a:ext cx="5394960" cy="1828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749040"/>
            <a:ext cx="146304" cy="1828800"/>
          </a:xfrm>
          <a:prstGeom prst="rect">
            <a:avLst/>
          </a:prstGeom>
          <a:solidFill>
            <a:srgbClr val="1E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023360"/>
            <a:ext cx="4754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42A4F"/>
                </a:solidFill>
                <a:latin typeface="Calibri"/>
              </a:rPr>
              <a:t>Měřitelná kvalita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5A6672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222B"/>
                </a:solidFill>
                <a:latin typeface="Calibri"/>
              </a:rPr>
              <a:t>Hodnocení + verzování promptů pro iteraci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Možná budoucí rozšíření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CC4EC"/>
                </a:solidFill>
                <a:latin typeface="Calibri"/>
              </a:rPr>
              <a:t>VÝHLED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Rozšíření o další programovací jazyky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0">
                <a:solidFill>
                  <a:srgbClr val="5A6672"/>
                </a:solidFill>
                <a:latin typeface="Calibri"/>
              </a:rPr>
              <a:t>     aktuálně C/C++, Rust, Python, Java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Kvantitativní studie kvality návrhů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0">
                <a:solidFill>
                  <a:srgbClr val="5A6672"/>
                </a:solidFill>
                <a:latin typeface="Calibri"/>
              </a:rPr>
              <a:t>     využití nasbíraných hodnocení napříč kurzy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Automatická volba promptu podle typu úlohy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●  </a:t>
            </a:r>
            <a:r>
              <a:rPr sz="1900" b="1">
                <a:solidFill>
                  <a:srgbClr val="1B222B"/>
                </a:solidFill>
                <a:latin typeface="Calibri"/>
              </a:rPr>
              <a:t>Zohlednění výsledků automatických testů v promptu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0">
                <a:solidFill>
                  <a:srgbClr val="5A6672"/>
                </a:solidFill>
                <a:latin typeface="Calibri"/>
              </a:rPr>
              <a:t>     propojení statické revize s dynamickým vyhodnocením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73152"/>
          </a:xfrm>
          <a:prstGeom prst="rect">
            <a:avLst/>
          </a:prstGeom>
          <a:solidFill>
            <a:srgbClr val="2E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CC4EC"/>
                </a:solidFill>
                <a:latin typeface="Calibri"/>
              </a:rPr>
              <a:t>ZÁVĚR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Velké jazykové modely lze smysluplně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integrovat do revize kódu v Kelvinu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C8D8EC"/>
                </a:solidFill>
                <a:latin typeface="Calibri"/>
              </a:rPr>
              <a:t>Asynchronně, provider-agnosticky, s člověkem v rozhodovací roli.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Děkuji za pozornost — prostor pro otázky.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CC4EC"/>
                </a:solidFill>
                <a:latin typeface="Calibri"/>
              </a:rPr>
              <a:t>Bc. Pavel Mikula  ·  github.com/Firestone82  ·  systém Kelvin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